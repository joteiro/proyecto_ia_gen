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Taraciuk" userId="c39586e426d78525" providerId="LiveId" clId="{6668E59B-7DC1-4AA1-8F02-266D2DAB1D38}"/>
    <pc:docChg chg="modSld">
      <pc:chgData name="Juan Taraciuk" userId="c39586e426d78525" providerId="LiveId" clId="{6668E59B-7DC1-4AA1-8F02-266D2DAB1D38}" dt="2026-07-10T07:25:38.420" v="6" actId="20577"/>
      <pc:docMkLst>
        <pc:docMk/>
      </pc:docMkLst>
      <pc:sldChg chg="modNotesTx">
        <pc:chgData name="Juan Taraciuk" userId="c39586e426d78525" providerId="LiveId" clId="{6668E59B-7DC1-4AA1-8F02-266D2DAB1D38}" dt="2026-07-10T07:25:16.350" v="0" actId="20577"/>
        <pc:sldMkLst>
          <pc:docMk/>
          <pc:sldMk cId="0" sldId="256"/>
        </pc:sldMkLst>
      </pc:sldChg>
      <pc:sldChg chg="modNotesTx">
        <pc:chgData name="Juan Taraciuk" userId="c39586e426d78525" providerId="LiveId" clId="{6668E59B-7DC1-4AA1-8F02-266D2DAB1D38}" dt="2026-07-10T07:25:20.114" v="1" actId="20577"/>
        <pc:sldMkLst>
          <pc:docMk/>
          <pc:sldMk cId="0" sldId="257"/>
        </pc:sldMkLst>
      </pc:sldChg>
      <pc:sldChg chg="modNotesTx">
        <pc:chgData name="Juan Taraciuk" userId="c39586e426d78525" providerId="LiveId" clId="{6668E59B-7DC1-4AA1-8F02-266D2DAB1D38}" dt="2026-07-10T07:25:24.256" v="2" actId="20577"/>
        <pc:sldMkLst>
          <pc:docMk/>
          <pc:sldMk cId="0" sldId="258"/>
        </pc:sldMkLst>
      </pc:sldChg>
      <pc:sldChg chg="modNotesTx">
        <pc:chgData name="Juan Taraciuk" userId="c39586e426d78525" providerId="LiveId" clId="{6668E59B-7DC1-4AA1-8F02-266D2DAB1D38}" dt="2026-07-10T07:25:28.192" v="3" actId="20577"/>
        <pc:sldMkLst>
          <pc:docMk/>
          <pc:sldMk cId="0" sldId="259"/>
        </pc:sldMkLst>
      </pc:sldChg>
      <pc:sldChg chg="modNotesTx">
        <pc:chgData name="Juan Taraciuk" userId="c39586e426d78525" providerId="LiveId" clId="{6668E59B-7DC1-4AA1-8F02-266D2DAB1D38}" dt="2026-07-10T07:25:31.187" v="4" actId="20577"/>
        <pc:sldMkLst>
          <pc:docMk/>
          <pc:sldMk cId="0" sldId="260"/>
        </pc:sldMkLst>
      </pc:sldChg>
      <pc:sldChg chg="modNotesTx">
        <pc:chgData name="Juan Taraciuk" userId="c39586e426d78525" providerId="LiveId" clId="{6668E59B-7DC1-4AA1-8F02-266D2DAB1D38}" dt="2026-07-10T07:25:35.702" v="5" actId="20577"/>
        <pc:sldMkLst>
          <pc:docMk/>
          <pc:sldMk cId="0" sldId="261"/>
        </pc:sldMkLst>
      </pc:sldChg>
      <pc:sldChg chg="modNotesTx">
        <pc:chgData name="Juan Taraciuk" userId="c39586e426d78525" providerId="LiveId" clId="{6668E59B-7DC1-4AA1-8F02-266D2DAB1D38}" dt="2026-07-10T07:25:38.420" v="6" actId="20577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091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3840480"/>
            <a:ext cx="4206240" cy="420624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4206240"/>
            <a:ext cx="3474720" cy="3474720"/>
          </a:xfrm>
          <a:prstGeom prst="ellipse">
            <a:avLst/>
          </a:prstGeom>
          <a:solidFill>
            <a:srgbClr val="D8F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>
                <a:latin typeface="Segoe UI Emoji"/>
              </a:rPr>
              <a:t>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8F63A"/>
                </a:solidFill>
                <a:latin typeface="Calibri"/>
              </a:rPr>
              <a:t>PROYECTO FINAL · IA GENERATIVA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Asistente Experto en</a:t>
            </a:r>
          </a:p>
          <a:p>
            <a:pPr algn="l"/>
            <a:r>
              <a:rPr sz="4000" b="1" i="0">
                <a:solidFill>
                  <a:srgbClr val="D8F63A"/>
                </a:solidFill>
                <a:latin typeface="Cambria"/>
              </a:rPr>
              <a:t>Reglamentos de Tenis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CFE3D8"/>
                </a:solidFill>
                <a:latin typeface="Calibri"/>
              </a:rPr>
              <a:t>RAG + Agente LangGraph con recuperación jerárquica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Máster en Data Science — Evolve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E8B00"/>
                </a:solidFill>
                <a:latin typeface="Calibri"/>
              </a:rPr>
              <a:t>EL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mbria"/>
              </a:rPr>
              <a:t>El problema: dos reglamentos, una jerarquía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5778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82A22"/>
                </a:solidFill>
                <a:latin typeface="Calibri"/>
              </a:rPr>
              <a:t>Un jugador tiene dudas reglamentarias, pero la respuesta puede estar en dos sitios: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82A22"/>
                </a:solidFill>
                <a:latin typeface="Calibri"/>
              </a:rPr>
              <a:t>· La norma local del torneo (lo habitual).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82A22"/>
                </a:solidFill>
                <a:latin typeface="Calibri"/>
              </a:rPr>
              <a:t>· O una regla general del tenis, si el torneo no la cubre.</a:t>
            </a:r>
          </a:p>
          <a:p>
            <a:pPr algn="l"/>
            <a:r>
              <a:rPr sz="1600" b="0" i="1">
                <a:solidFill>
                  <a:srgbClr val="66766E"/>
                </a:solidFill>
                <a:latin typeface="Calibri"/>
              </a:rPr>
              <a:t>Ideal para RAG: texto normativo, denso, por artículos. Nada de "CSV con números sueltos": hay que recuperar el pasaje correcto y citar la fuente.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4663440" cy="1234440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 w="1905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14032" y="2084831"/>
            <a:ext cx="731520" cy="73152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993392"/>
            <a:ext cx="329183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Reglamento del Torneo — Moncloa</a:t>
            </a:r>
          </a:p>
          <a:p>
            <a:pPr algn="l"/>
            <a:r>
              <a:rPr sz="1300" b="1" i="0">
                <a:solidFill>
                  <a:srgbClr val="6E8B00"/>
                </a:solidFill>
                <a:latin typeface="Calibri"/>
              </a:rPr>
              <a:t>Fuente PRINCIPAL · 6 págs</a:t>
            </a:r>
          </a:p>
        </p:txBody>
      </p:sp>
      <p:sp>
        <p:nvSpPr>
          <p:cNvPr id="8" name="Down Arrow 7"/>
          <p:cNvSpPr/>
          <p:nvPr/>
        </p:nvSpPr>
        <p:spPr>
          <a:xfrm>
            <a:off x="8869680" y="3154680"/>
            <a:ext cx="640080" cy="502920"/>
          </a:xfrm>
          <a:prstGeom prst="downArrow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3200400"/>
            <a:ext cx="44805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1">
                <a:solidFill>
                  <a:srgbClr val="66766E"/>
                </a:solidFill>
                <a:latin typeface="Calibri"/>
              </a:rPr>
              <a:t>solo si el torneo no lo cubre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749039"/>
            <a:ext cx="4663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114032" y="4005072"/>
            <a:ext cx="731520" cy="7315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>
                <a:latin typeface="Segoe UI Emoji"/>
              </a:rP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913632"/>
            <a:ext cx="329183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Reglas del Tenis — ITF 2026</a:t>
            </a:r>
          </a:p>
          <a:p>
            <a:pPr algn="l"/>
            <a:r>
              <a:rPr sz="1300" b="1" i="0">
                <a:solidFill>
                  <a:srgbClr val="66766E"/>
                </a:solidFill>
                <a:latin typeface="Calibri"/>
              </a:rPr>
              <a:t>Fuente de RESPALDO · 50 págs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6E8B00"/>
                </a:solidFill>
                <a:latin typeface="Cambria"/>
              </a:rPr>
              <a:t>56</a:t>
            </a:r>
          </a:p>
          <a:p>
            <a:pPr algn="l"/>
            <a:r>
              <a:rPr sz="1400" b="0" i="0">
                <a:solidFill>
                  <a:srgbClr val="66766E"/>
                </a:solidFill>
                <a:latin typeface="Calibri"/>
              </a:rPr>
              <a:t>páginas indexadas · 2 documentos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E8B00"/>
                </a:solidFill>
                <a:latin typeface="Calibri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mbria"/>
              </a:rPr>
              <a:t>Arquitectura: un agente que enruta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 w="19050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82A22"/>
                </a:solidFill>
                <a:latin typeface="Calibri"/>
              </a:rPr>
              <a:t>❓  Pregunta
del usuario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56432" y="2167128"/>
            <a:ext cx="502920" cy="384048"/>
          </a:xfrm>
          <a:prstGeom prst="rightArrow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23360" y="1783080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063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🤖  Agente LangGraph</a:t>
            </a:r>
          </a:p>
          <a:p>
            <a:pPr algn="ctr"/>
            <a:r>
              <a:rPr sz="1200" b="0" i="0">
                <a:solidFill>
                  <a:srgbClr val="D8F63A"/>
                </a:solidFill>
                <a:latin typeface="Calibri"/>
              </a:rPr>
              <a:t>ReAct + memoria (thread_id)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9752" y="2167128"/>
            <a:ext cx="502920" cy="384048"/>
          </a:xfrm>
          <a:prstGeom prst="rightArrow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26679" y="178308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 w="19050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1783080"/>
            <a:ext cx="37947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82A22"/>
                </a:solidFill>
                <a:latin typeface="Calibri"/>
              </a:rPr>
              <a:t>💬  Respuesta citada</a:t>
            </a:r>
          </a:p>
          <a:p>
            <a:pPr algn="ctr"/>
            <a:r>
              <a:rPr sz="1200" b="0" i="0">
                <a:solidFill>
                  <a:srgbClr val="66766E"/>
                </a:solidFill>
                <a:latin typeface="Calibri"/>
              </a:rPr>
              <a:t>con artículo y página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Dos herramientas de recuperación (RAG) — el agente decide cuál usar y en qué orden: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349240" y="3474720"/>
            <a:ext cx="411480" cy="384048"/>
          </a:xfrm>
          <a:prstGeom prst="downArrow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4187952"/>
            <a:ext cx="731520" cy="73152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>
                <a:latin typeface="Segoe UI Emoji"/>
              </a:rP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06240"/>
            <a:ext cx="4114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B4332"/>
                </a:solidFill>
                <a:latin typeface="Consolas"/>
              </a:rPr>
              <a:t>buscar_reglamento_torneo</a:t>
            </a:r>
          </a:p>
          <a:p>
            <a:pPr algn="l"/>
            <a:r>
              <a:rPr sz="1200" b="1" i="0">
                <a:solidFill>
                  <a:srgbClr val="6E8B00"/>
                </a:solidFill>
                <a:latin typeface="Calibri"/>
              </a:rPr>
              <a:t>PRIORIDAD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82A22"/>
                </a:solidFill>
                <a:latin typeface="Calibri"/>
              </a:rPr>
              <a:t>Recupera de la colección ChromaDB del torneo. Se usa SIEMPRE primero.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3192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46520" y="4187952"/>
            <a:ext cx="731520" cy="7315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>
                <a:latin typeface="Segoe UI Emoji"/>
              </a:rPr>
              <a:t>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0624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B4332"/>
                </a:solidFill>
                <a:latin typeface="Consolas"/>
              </a:rPr>
              <a:t>buscar_reglamento_itf</a:t>
            </a:r>
          </a:p>
          <a:p>
            <a:pPr algn="l"/>
            <a:r>
              <a:rPr sz="1200" b="1" i="0">
                <a:solidFill>
                  <a:srgbClr val="66766E"/>
                </a:solidFill>
                <a:latin typeface="Calibri"/>
              </a:rPr>
              <a:t>PRIORIDAD 2 · solo si falta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66360"/>
            <a:ext cx="4937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82A22"/>
                </a:solidFill>
                <a:latin typeface="Calibri"/>
              </a:rPr>
              <a:t>Recupera de la colección ChromaDB de la ITF. Solo si el torneo no cubre la duda.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E8B00"/>
                </a:solidFill>
                <a:latin typeface="Calibri"/>
              </a:rPr>
              <a:t>INGENIERÍA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mbria"/>
              </a:rPr>
              <a:t>Decisiones técnicas (y el porqué)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 w="15875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975104"/>
            <a:ext cx="603504" cy="6035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latin typeface="Segoe UI Emoji"/>
              </a:rPr>
              <a:t>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8366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  <a:latin typeface="Calibri"/>
              </a:rPr>
              <a:t>Dos colecciones separadas, no una con filtros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042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66E"/>
                </a:solidFill>
                <a:latin typeface="Calibri"/>
              </a:rPr>
              <a:t>Así el enrutamiento es explícito: dos herramientas distintas y el agente razona cuál usar. Eso es lo agéntico.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44368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3182111"/>
            <a:ext cx="603504" cy="6035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latin typeface="Segoe UI Emoji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9067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  <a:latin typeface="Calibri"/>
              </a:rPr>
              <a:t>System prompt con jerarquía y reglas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511296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66E"/>
                </a:solidFill>
                <a:latin typeface="Calibri"/>
              </a:rPr>
              <a:t>Torneo primero, ITF de respaldo, citar SIEMPRE la fuente y admitir "no lo sé" en vez de inventar.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51376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 w="15875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4389120"/>
            <a:ext cx="603504" cy="6035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latin typeface="Segoe UI Emoj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976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  <a:latin typeface="Calibri"/>
              </a:rPr>
              <a:t>Memoria de conversación (thread_id)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1830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66E"/>
                </a:solidFill>
                <a:latin typeface="Calibri"/>
              </a:rPr>
              <a:t>Checkpointer de LangGraph: preguntas de seguimiento sin repetir el contexto.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58384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5596128"/>
            <a:ext cx="603504" cy="6035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>
                <a:latin typeface="Segoe UI Emoji"/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5046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  <a:latin typeface="Calibri"/>
              </a:rPr>
              <a:t>Modelos configurables: Gemini + Groq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92531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6766E"/>
                </a:solidFill>
                <a:latin typeface="Calibri"/>
              </a:rPr>
              <a:t>Embeddings en Gemini; chat en Groq (free tier amplio). Cambiar de proveedor es una línea del .env.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E8B00"/>
                </a:solidFill>
                <a:latin typeface="Calibri"/>
              </a:rPr>
              <a:t>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mbria"/>
              </a:rPr>
              <a:t>Demo en vivo — 3 preguntas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19" y="2103120"/>
            <a:ext cx="777240" cy="77724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167128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TORNEO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19" y="31089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2697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82A22"/>
                </a:solidFill>
                <a:latin typeface="Calibri"/>
              </a:rPr>
              <a:t>"¿Qué pasa si no me
presento a un partido?"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66766E"/>
                </a:solidFill>
                <a:latin typeface="Calibri"/>
              </a:rPr>
              <a:t>Responde con el reglamento del torneo: W.O. tras 20 min y pago de la pista. Cita Art. 1.6/1.7.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80" y="2103120"/>
            <a:ext cx="777240" cy="77724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67128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ITF · RESPALDO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1089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3154680"/>
            <a:ext cx="2697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82A22"/>
                </a:solidFill>
                <a:latin typeface="Calibri"/>
              </a:rPr>
              <a:t>"¿Cómo funciona
un tie-break?"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38912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66766E"/>
                </a:solidFill>
                <a:latin typeface="Calibri"/>
              </a:rPr>
              <a:t>El torneo no lo detalla → el agente cae a la ITF. ★ El momento clave: muestra el enrutamiento.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8308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49640" y="2103120"/>
            <a:ext cx="777240" cy="777240"/>
          </a:xfrm>
          <a:prstGeom prst="ellipse">
            <a:avLst/>
          </a:prstGeom>
          <a:solidFill>
            <a:srgbClr val="6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>
                <a:latin typeface="Segoe UI Emoj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167128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E8B00"/>
                </a:solidFill>
                <a:latin typeface="Calibri"/>
              </a:rPr>
              <a:t>MEMORIA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31089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3154680"/>
            <a:ext cx="26974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82A22"/>
                </a:solidFill>
                <a:latin typeface="Calibri"/>
              </a:rPr>
              <a:t>"…¿y quién paga la
pista en ese caso?"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38912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66766E"/>
                </a:solidFill>
                <a:latin typeface="Calibri"/>
              </a:rPr>
              <a:t>Entiende que "ese caso" es el W.O. anterior. No se le repitió el contexto: lo recordó.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766E"/>
                </a:solidFill>
                <a:latin typeface="Calibri"/>
              </a:rPr>
              <a:t>Plan B si falla la conexión: el notebook ya está ejecutado con los outputs reales guardados.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E8B00"/>
                </a:solidFill>
                <a:latin typeface="Calibri"/>
              </a:rPr>
              <a:t>LO QUE RESOLVÍ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B4332"/>
                </a:solidFill>
                <a:latin typeface="Cambria"/>
              </a:rPr>
              <a:t>Reto técnico: free tier y robustez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 w="15875">
            <a:solidFill>
              <a:srgbClr val="D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Calibri"/>
              </a:rPr>
              <a:t>Cuota de chat gratuita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66766E"/>
                </a:solidFill>
                <a:latin typeface="Cambria"/>
              </a:rPr>
              <a:t>~20</a:t>
            </a:r>
          </a:p>
          <a:p>
            <a:pPr algn="l"/>
            <a:r>
              <a:rPr sz="1500" b="0" i="0">
                <a:solidFill>
                  <a:srgbClr val="66766E"/>
                </a:solidFill>
                <a:latin typeface="Calibri"/>
              </a:rPr>
              <a:t> req/día  ·  Gemini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2880360"/>
            <a:ext cx="457200" cy="365760"/>
          </a:xfrm>
          <a:prstGeom prst="rightArrow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251460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6E8B00"/>
                </a:solidFill>
                <a:latin typeface="Cambria"/>
              </a:rPr>
              <a:t>miles</a:t>
            </a:r>
          </a:p>
          <a:p>
            <a:pPr algn="l"/>
            <a:r>
              <a:rPr sz="1500" b="1" i="0">
                <a:solidFill>
                  <a:srgbClr val="182A22"/>
                </a:solidFill>
                <a:latin typeface="Calibri"/>
              </a:rPr>
              <a:t> /día  ·  Groq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1920239"/>
            <a:ext cx="384048" cy="38404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>
                <a:latin typeface="Segoe UI Emoj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4708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4332"/>
                </a:solidFill>
                <a:latin typeface="Calibri"/>
              </a:rPr>
              <a:t>Embeddings en Gemini, chat en Groq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5856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6766E"/>
                </a:solidFill>
                <a:latin typeface="Calibri"/>
              </a:rPr>
              <a:t>cuotas independientes; se aprovecha cada una.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889503"/>
            <a:ext cx="384048" cy="38404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>
                <a:latin typeface="Segoe UI Emoj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1635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4332"/>
                </a:solidFill>
                <a:latin typeface="Calibri"/>
              </a:rPr>
              <a:t>Indexado por lotes con control de ritmo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2783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6766E"/>
                </a:solidFill>
                <a:latin typeface="Calibri"/>
              </a:rPr>
              <a:t>respeta el límite de ~100 embeddings/min.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3858768"/>
            <a:ext cx="384048" cy="38404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>
                <a:latin typeface="Segoe UI Emoj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85615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4332"/>
                </a:solidFill>
                <a:latin typeface="Calibri"/>
              </a:rPr>
              <a:t>Reintento ante errores 429 / 503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97096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6766E"/>
                </a:solidFill>
                <a:latin typeface="Calibri"/>
              </a:rPr>
              <a:t>transitorios de la API, con back-off.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4828032"/>
            <a:ext cx="384048" cy="38404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>
                <a:latin typeface="Segoe UI Emoj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54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B4332"/>
                </a:solidFill>
                <a:latin typeface="Calibri"/>
              </a:rPr>
              <a:t>ChromaDB persistido en disco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66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6766E"/>
                </a:solidFill>
                <a:latin typeface="Calibri"/>
              </a:rPr>
              <a:t>no se reindexa en cada ejecución.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8F63A"/>
                </a:solidFill>
                <a:latin typeface="Calibr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Un asistente que razona, no solo busca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514600"/>
            <a:ext cx="685800" cy="685800"/>
          </a:xfrm>
          <a:prstGeom prst="ellipse">
            <a:avLst/>
          </a:prstGeom>
          <a:solidFill>
            <a:srgbClr val="D8F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>
                <a:latin typeface="Segoe UI Emoji"/>
              </a:rPr>
              <a:t>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4688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RAG jerárquico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9718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E3D8"/>
                </a:solidFill>
                <a:latin typeface="Calibri"/>
              </a:rPr>
              <a:t>El agente enruta entre dos reglamentos y cita siempre la fuente.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566160"/>
            <a:ext cx="685800" cy="685800"/>
          </a:xfrm>
          <a:prstGeom prst="ellipse">
            <a:avLst/>
          </a:prstGeom>
          <a:solidFill>
            <a:srgbClr val="D8F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>
                <a:latin typeface="Segoe UI Emoj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5204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Agente con memoria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0233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E3D8"/>
                </a:solidFill>
                <a:latin typeface="Calibri"/>
              </a:rPr>
              <a:t>LangGraph + checkpointer: coherencia entre turnos.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617720"/>
            <a:ext cx="685800" cy="685800"/>
          </a:xfrm>
          <a:prstGeom prst="ellipse">
            <a:avLst/>
          </a:prstGeom>
          <a:solidFill>
            <a:srgbClr val="D8F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>
                <a:latin typeface="Segoe UI Emoji"/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5720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Robusto y portable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0749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FE3D8"/>
                </a:solidFill>
                <a:latin typeface="Calibri"/>
              </a:rPr>
              <a:t>Modelos configurables y manejo de cuotas del free tier.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D8F63A"/>
                </a:solidFill>
                <a:latin typeface="Cambria"/>
              </a:rPr>
              <a:t>¡Gracias!  ¿Preguntas?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60" y="5212080"/>
            <a:ext cx="1280160" cy="1280160"/>
          </a:xfrm>
          <a:prstGeom prst="ellipse">
            <a:avLst/>
          </a:prstGeom>
          <a:solidFill>
            <a:srgbClr val="D8F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latin typeface="Segoe UI Emoji"/>
              </a:rPr>
              <a:t>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641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Taraciuk</cp:lastModifiedBy>
  <cp:revision>1</cp:revision>
  <dcterms:created xsi:type="dcterms:W3CDTF">2013-01-27T09:14:16Z</dcterms:created>
  <dcterms:modified xsi:type="dcterms:W3CDTF">2026-07-10T07:25:41Z</dcterms:modified>
  <cp:category/>
</cp:coreProperties>
</file>